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5" r:id="rId4"/>
    <p:sldId id="276" r:id="rId5"/>
    <p:sldId id="267" r:id="rId6"/>
    <p:sldId id="286" r:id="rId7"/>
    <p:sldId id="277" r:id="rId8"/>
    <p:sldId id="288" r:id="rId9"/>
    <p:sldId id="305" r:id="rId10"/>
    <p:sldId id="302" r:id="rId11"/>
    <p:sldId id="297" r:id="rId12"/>
    <p:sldId id="298" r:id="rId13"/>
    <p:sldId id="270" r:id="rId14"/>
    <p:sldId id="271" r:id="rId15"/>
    <p:sldId id="301" r:id="rId16"/>
    <p:sldId id="295" r:id="rId17"/>
    <p:sldId id="303" r:id="rId18"/>
    <p:sldId id="304" r:id="rId19"/>
    <p:sldId id="265" r:id="rId20"/>
    <p:sldId id="300" r:id="rId21"/>
    <p:sldId id="26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0992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894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37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86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762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88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496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258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563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90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1719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695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5210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102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18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96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25B80-0EC7-419D-82EA-845F041FDB47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603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aspnet/core/security/authorization/limitingidentitybyscheme?view=aspnetcore-8.0" TargetMode="External"/><Relationship Id="rId2" Type="http://schemas.openxmlformats.org/officeDocument/2006/relationships/hyperlink" Target="https://learn.microsoft.com/ru-ru/aspnet/core/introduction-to-aspnet-core?view=aspnetcore-8.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abr.com/ru/companies/ruvds/articles/450312/" TargetMode="External"/><Relationship Id="rId4" Type="http://schemas.openxmlformats.org/officeDocument/2006/relationships/hyperlink" Target="https://www.c-sharpcorner.com/learn/learn-flutter/flutter-rest-api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57597" y="2817772"/>
            <a:ext cx="7766936" cy="1646302"/>
          </a:xfrm>
        </p:spPr>
        <p:txBody>
          <a:bodyPr/>
          <a:lstStyle/>
          <a:p>
            <a:pPr algn="ctr"/>
            <a:r>
              <a:rPr lang="ru-RU" sz="2800" dirty="0" smtClean="0">
                <a:cs typeface="Times New Roman" panose="02020603050405020304" pitchFamily="18" charset="0"/>
              </a:rPr>
              <a:t>Курсовой проект </a:t>
            </a:r>
            <a:br>
              <a:rPr lang="ru-RU" sz="2800" dirty="0" smtClean="0">
                <a:cs typeface="Times New Roman" panose="02020603050405020304" pitchFamily="18" charset="0"/>
              </a:rPr>
            </a:br>
            <a:r>
              <a:rPr lang="ru-RU" sz="2800" dirty="0" smtClean="0">
                <a:cs typeface="Times New Roman" panose="02020603050405020304" pitchFamily="18" charset="0"/>
              </a:rPr>
              <a:t>по дисциплине «Технологии разработки веб-приложений»</a:t>
            </a:r>
            <a:br>
              <a:rPr lang="ru-RU" sz="2800" dirty="0" smtClean="0">
                <a:cs typeface="Times New Roman" panose="02020603050405020304" pitchFamily="18" charset="0"/>
              </a:rPr>
            </a:br>
            <a:r>
              <a:rPr lang="ru-RU" sz="2800" dirty="0" smtClean="0">
                <a:cs typeface="Times New Roman" panose="02020603050405020304" pitchFamily="18" charset="0"/>
              </a:rPr>
              <a:t>по теме:</a:t>
            </a:r>
            <a:br>
              <a:rPr lang="ru-RU" sz="2800" dirty="0" smtClean="0">
                <a:cs typeface="Times New Roman" panose="02020603050405020304" pitchFamily="18" charset="0"/>
              </a:rPr>
            </a:br>
            <a:r>
              <a:rPr lang="ru-RU" sz="2800" dirty="0" smtClean="0">
                <a:cs typeface="Times New Roman" panose="02020603050405020304" pitchFamily="18" charset="0"/>
              </a:rPr>
              <a:t> </a:t>
            </a:r>
            <a:r>
              <a:rPr lang="ru-RU" sz="2800" dirty="0" smtClean="0"/>
              <a:t>Разработка веб-приложения для построения кратчайших маршрутов по городу</a:t>
            </a:r>
            <a:r>
              <a:rPr lang="ru-RU" dirty="0"/>
              <a:t/>
            </a:r>
            <a:br>
              <a:rPr lang="ru-RU" dirty="0"/>
            </a:br>
            <a:endParaRPr lang="ru-RU" sz="2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26348" y="4890578"/>
            <a:ext cx="2387990" cy="1096899"/>
          </a:xfrm>
        </p:spPr>
        <p:txBody>
          <a:bodyPr>
            <a:noAutofit/>
          </a:bodyPr>
          <a:lstStyle/>
          <a:p>
            <a:r>
              <a:rPr lang="ru-RU" sz="2200" dirty="0" smtClean="0"/>
              <a:t>Выполнил: студент группы ПРИм-124 Парахин Кирилл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97873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592015"/>
            <a:ext cx="7912751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Проблематика задачи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8888" y="1563511"/>
            <a:ext cx="8899929" cy="4538030"/>
          </a:xfrm>
        </p:spPr>
        <p:txBody>
          <a:bodyPr>
            <a:normAutofit/>
          </a:bodyPr>
          <a:lstStyle/>
          <a:p>
            <a:r>
              <a:rPr lang="ru-RU" dirty="0"/>
              <a:t>Основной проблемой является отсутствие публичного реестра качества и загруженности дорог города. На фоне ежегодного роста транспортного потока в крупных городах, увеличения формирования дефектов на существующих дорожных участках – все сложнее становится организовать грамотное перемещение транспортных </a:t>
            </a:r>
            <a:r>
              <a:rPr lang="ru-RU" dirty="0" smtClean="0"/>
              <a:t>средств</a:t>
            </a:r>
          </a:p>
          <a:p>
            <a:r>
              <a:rPr lang="ru-RU" dirty="0"/>
              <a:t>Данная работа является дочерней задачей для выполнения научно-исследовательской работы по созданию системы, которая будет осуществлять построение маршрутов по дорогам согласно качеству дорожного покрытия и актуальным дорожным условиям.</a:t>
            </a:r>
          </a:p>
          <a:p>
            <a:r>
              <a:rPr lang="ru-RU" dirty="0"/>
              <a:t>Разработка данной программно-информационной системы позволит повысить автоматизировать сбор данных из различных источников, представить единый регистр для их хранения, анализа и обработки и будет помогать клиентам находить оптимальные маршруты в конкретные моменты времени.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67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592015"/>
            <a:ext cx="7912751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Сравнительной обзор аналогов</a:t>
            </a:r>
            <a:endParaRPr lang="ru-RU" sz="2600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6243598"/>
              </p:ext>
            </p:extLst>
          </p:nvPr>
        </p:nvGraphicFramePr>
        <p:xfrm>
          <a:off x="677334" y="1392572"/>
          <a:ext cx="9001387" cy="44881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5189">
                  <a:extLst>
                    <a:ext uri="{9D8B030D-6E8A-4147-A177-3AD203B41FA5}">
                      <a16:colId xmlns:a16="http://schemas.microsoft.com/office/drawing/2014/main" val="1158326485"/>
                    </a:ext>
                  </a:extLst>
                </a:gridCol>
                <a:gridCol w="2406269">
                  <a:extLst>
                    <a:ext uri="{9D8B030D-6E8A-4147-A177-3AD203B41FA5}">
                      <a16:colId xmlns:a16="http://schemas.microsoft.com/office/drawing/2014/main" val="2652729622"/>
                    </a:ext>
                  </a:extLst>
                </a:gridCol>
                <a:gridCol w="2373898">
                  <a:extLst>
                    <a:ext uri="{9D8B030D-6E8A-4147-A177-3AD203B41FA5}">
                      <a16:colId xmlns:a16="http://schemas.microsoft.com/office/drawing/2014/main" val="115321428"/>
                    </a:ext>
                  </a:extLst>
                </a:gridCol>
                <a:gridCol w="1816031">
                  <a:extLst>
                    <a:ext uri="{9D8B030D-6E8A-4147-A177-3AD203B41FA5}">
                      <a16:colId xmlns:a16="http://schemas.microsoft.com/office/drawing/2014/main" val="1188259327"/>
                    </a:ext>
                  </a:extLst>
                </a:gridCol>
              </a:tblGrid>
              <a:tr h="79501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Характеристика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Google Maps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Waze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Яндекс Карты и Навигатор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extLst>
                  <a:ext uri="{0D108BD9-81ED-4DB2-BD59-A6C34878D82A}">
                    <a16:rowId xmlns:a16="http://schemas.microsoft.com/office/drawing/2014/main" val="397819610"/>
                  </a:ext>
                </a:extLst>
              </a:tr>
              <a:tr h="85225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Тип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Навигация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информация</a:t>
                      </a:r>
                      <a:r>
                        <a:rPr lang="en-US" sz="1400" dirty="0">
                          <a:effectLst/>
                        </a:rPr>
                        <a:t> о </a:t>
                      </a:r>
                      <a:r>
                        <a:rPr lang="en-US" sz="1400" dirty="0" err="1">
                          <a:effectLst/>
                        </a:rPr>
                        <a:t>пробках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Навигация</a:t>
                      </a:r>
                      <a:r>
                        <a:rPr lang="en-US" sz="1400" dirty="0">
                          <a:effectLst/>
                        </a:rPr>
                        <a:t> в </a:t>
                      </a:r>
                      <a:r>
                        <a:rPr lang="en-US" sz="1400" dirty="0" err="1">
                          <a:effectLst/>
                        </a:rPr>
                        <a:t>реальном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времени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Навигация, пробки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extLst>
                  <a:ext uri="{0D108BD9-81ED-4DB2-BD59-A6C34878D82A}">
                    <a16:rowId xmlns:a16="http://schemas.microsoft.com/office/drawing/2014/main" val="3512293143"/>
                  </a:ext>
                </a:extLst>
              </a:tr>
              <a:tr h="85225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Данные о качестве дорог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Ограничено, данные Google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Данные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от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пользователей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Подробные, обновляются часто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extLst>
                  <a:ext uri="{0D108BD9-81ED-4DB2-BD59-A6C34878D82A}">
                    <a16:rowId xmlns:a16="http://schemas.microsoft.com/office/drawing/2014/main" val="302563682"/>
                  </a:ext>
                </a:extLst>
              </a:tr>
              <a:tr h="11363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Взаимодействие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Взаимодействие с </a:t>
                      </a:r>
                      <a:r>
                        <a:rPr lang="en-US" sz="1400">
                          <a:effectLst/>
                        </a:rPr>
                        <a:t>Google API</a:t>
                      </a:r>
                      <a:r>
                        <a:rPr lang="ru-RU" sz="1400">
                          <a:effectLst/>
                        </a:rPr>
                        <a:t>, интеграция с календарем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Интерактивные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отчеты</a:t>
                      </a:r>
                      <a:r>
                        <a:rPr lang="en-US" sz="1400" dirty="0">
                          <a:effectLst/>
                        </a:rPr>
                        <a:t> о </a:t>
                      </a:r>
                      <a:r>
                        <a:rPr lang="en-US" sz="1400" dirty="0" err="1">
                          <a:effectLst/>
                        </a:rPr>
                        <a:t>событиях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Поддержка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локальных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сервисов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Яндекс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extLst>
                  <a:ext uri="{0D108BD9-81ED-4DB2-BD59-A6C34878D82A}">
                    <a16:rowId xmlns:a16="http://schemas.microsoft.com/office/drawing/2014/main" val="1551468801"/>
                  </a:ext>
                </a:extLst>
              </a:tr>
              <a:tr h="85225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Поддержка офлайн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Ограничено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Нет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В </a:t>
                      </a:r>
                      <a:r>
                        <a:rPr lang="en-US" sz="1400" dirty="0" err="1">
                          <a:effectLst/>
                        </a:rPr>
                        <a:t>полной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мере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реализовано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91" marR="64691" marT="0" marB="0"/>
                </a:tc>
                <a:extLst>
                  <a:ext uri="{0D108BD9-81ED-4DB2-BD59-A6C34878D82A}">
                    <a16:rowId xmlns:a16="http://schemas.microsoft.com/office/drawing/2014/main" val="3202547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548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658" y="187569"/>
            <a:ext cx="8596668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Диаграмма прецедентов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57" y="1061630"/>
            <a:ext cx="7505786" cy="512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5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5449" y="249115"/>
            <a:ext cx="8596668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Физическая схема БД</a:t>
            </a:r>
            <a:endParaRPr lang="ru-RU" sz="2600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67" y="1249960"/>
            <a:ext cx="8480018" cy="4674619"/>
          </a:xfrm>
        </p:spPr>
      </p:pic>
    </p:spTree>
    <p:extLst>
      <p:ext uri="{BB962C8B-B14F-4D97-AF65-F5344CB8AC3E}">
        <p14:creationId xmlns:p14="http://schemas.microsoft.com/office/powerpoint/2010/main" val="6703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5449" y="249115"/>
            <a:ext cx="8596668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Схема </a:t>
            </a:r>
            <a:r>
              <a:rPr lang="ru-RU" sz="2600" dirty="0" smtClean="0"/>
              <a:t>последовательности платежа в </a:t>
            </a:r>
            <a:r>
              <a:rPr lang="en-US" sz="2600" dirty="0" err="1" smtClean="0"/>
              <a:t>YooMoney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1124393" y="989682"/>
            <a:ext cx="7702550" cy="560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47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07597"/>
            <a:ext cx="8596668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Диаграмма развертывания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352501" y="1556326"/>
            <a:ext cx="5366847" cy="470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8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8888" y="242711"/>
            <a:ext cx="7912751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Описание инструментов разработки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8888" y="1110505"/>
            <a:ext cx="9550789" cy="5407741"/>
          </a:xfrm>
        </p:spPr>
        <p:txBody>
          <a:bodyPr>
            <a:normAutofit/>
          </a:bodyPr>
          <a:lstStyle/>
          <a:p>
            <a:r>
              <a:rPr lang="ru-RU" dirty="0"/>
              <a:t>В качестве платформы для разработки серверной части приложения был выбран </a:t>
            </a:r>
            <a:r>
              <a:rPr lang="en-US" dirty="0"/>
              <a:t>ASP</a:t>
            </a:r>
            <a:r>
              <a:rPr lang="ru-RU" dirty="0"/>
              <a:t>.</a:t>
            </a:r>
            <a:r>
              <a:rPr lang="en-US" dirty="0"/>
              <a:t>NET Core</a:t>
            </a:r>
            <a:r>
              <a:rPr lang="ru-RU" dirty="0"/>
              <a:t> </a:t>
            </a:r>
            <a:r>
              <a:rPr lang="ru-RU" dirty="0" err="1"/>
              <a:t>благодоря</a:t>
            </a:r>
            <a:r>
              <a:rPr lang="ru-RU" dirty="0"/>
              <a:t> его </a:t>
            </a:r>
            <a:r>
              <a:rPr lang="ru-RU" dirty="0" err="1"/>
              <a:t>высокопроизводительности</a:t>
            </a:r>
            <a:r>
              <a:rPr lang="ru-RU" dirty="0"/>
              <a:t> и кроссплатформенности</a:t>
            </a:r>
            <a:r>
              <a:rPr lang="ru-RU" dirty="0" smtClean="0"/>
              <a:t>.</a:t>
            </a:r>
          </a:p>
          <a:p>
            <a:r>
              <a:rPr lang="ru-RU" dirty="0"/>
              <a:t>Клиентская часть приложения была разработана с использованием </a:t>
            </a:r>
            <a:r>
              <a:rPr lang="ru-RU" dirty="0" err="1"/>
              <a:t>фреймворка</a:t>
            </a:r>
            <a:r>
              <a:rPr lang="ru-RU" dirty="0"/>
              <a:t> </a:t>
            </a:r>
            <a:r>
              <a:rPr lang="en-US" dirty="0"/>
              <a:t>Flutter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В качестве СУБД была выбрана </a:t>
            </a:r>
            <a:r>
              <a:rPr lang="en-US" dirty="0" smtClean="0"/>
              <a:t>PostgreSQL</a:t>
            </a:r>
            <a:endParaRPr lang="ru-RU" dirty="0" smtClean="0"/>
          </a:p>
          <a:p>
            <a:r>
              <a:rPr lang="ru-RU" dirty="0"/>
              <a:t>Аутентификация была использована на основе </a:t>
            </a:r>
            <a:r>
              <a:rPr lang="en-US" dirty="0"/>
              <a:t>Identity </a:t>
            </a:r>
            <a:r>
              <a:rPr lang="ru-RU" dirty="0"/>
              <a:t>от </a:t>
            </a:r>
            <a:r>
              <a:rPr lang="en-US" dirty="0"/>
              <a:t>ASP</a:t>
            </a:r>
            <a:r>
              <a:rPr lang="ru-RU" dirty="0"/>
              <a:t>.</a:t>
            </a:r>
            <a:r>
              <a:rPr lang="en-US" dirty="0"/>
              <a:t>NET </a:t>
            </a:r>
            <a:r>
              <a:rPr lang="en-US" dirty="0" smtClean="0"/>
              <a:t>Core</a:t>
            </a:r>
            <a:endParaRPr lang="ru-RU" dirty="0" smtClean="0"/>
          </a:p>
          <a:p>
            <a:r>
              <a:rPr lang="ru-RU" dirty="0" smtClean="0"/>
              <a:t>Используемые библиотеки:</a:t>
            </a:r>
          </a:p>
          <a:p>
            <a:pPr lvl="1"/>
            <a:r>
              <a:rPr lang="ru-RU" dirty="0" err="1" smtClean="0"/>
              <a:t>Newtonsoft.Json</a:t>
            </a:r>
            <a:r>
              <a:rPr lang="ru-RU" dirty="0" smtClean="0"/>
              <a:t> </a:t>
            </a:r>
            <a:r>
              <a:rPr lang="ru-RU" dirty="0"/>
              <a:t>– библиотека для </a:t>
            </a:r>
            <a:r>
              <a:rPr lang="ru-RU" dirty="0" err="1"/>
              <a:t>сериализации</a:t>
            </a:r>
            <a:r>
              <a:rPr lang="ru-RU" dirty="0"/>
              <a:t> и </a:t>
            </a:r>
            <a:r>
              <a:rPr lang="ru-RU" dirty="0" err="1"/>
              <a:t>десериализации</a:t>
            </a:r>
            <a:r>
              <a:rPr lang="ru-RU" dirty="0"/>
              <a:t> объект в </a:t>
            </a:r>
            <a:r>
              <a:rPr lang="en-US" dirty="0" err="1"/>
              <a:t>JSON</a:t>
            </a:r>
            <a:r>
              <a:rPr lang="ru-RU" dirty="0"/>
              <a:t>.</a:t>
            </a:r>
            <a:endParaRPr lang="ru-RU" b="1" dirty="0"/>
          </a:p>
          <a:p>
            <a:pPr lvl="1"/>
            <a:r>
              <a:rPr lang="en-US" dirty="0" err="1"/>
              <a:t>Serilog</a:t>
            </a:r>
            <a:r>
              <a:rPr lang="en-US" dirty="0"/>
              <a:t> </a:t>
            </a:r>
            <a:r>
              <a:rPr lang="ru-RU" dirty="0"/>
              <a:t>– сторонняя библиотека для </a:t>
            </a:r>
            <a:r>
              <a:rPr lang="ru-RU" dirty="0" err="1"/>
              <a:t>логгирования</a:t>
            </a:r>
            <a:r>
              <a:rPr lang="ru-RU" dirty="0"/>
              <a:t> приложения (как в консоли, так и в </a:t>
            </a:r>
            <a:r>
              <a:rPr lang="en-US" dirty="0"/>
              <a:t>Google Cloud</a:t>
            </a:r>
            <a:r>
              <a:rPr lang="ru-RU" dirty="0"/>
              <a:t>)</a:t>
            </a:r>
            <a:endParaRPr lang="ru-RU" b="1" dirty="0"/>
          </a:p>
          <a:p>
            <a:pPr lvl="1"/>
            <a:r>
              <a:rPr lang="en-US" dirty="0"/>
              <a:t>Entity Framework Core</a:t>
            </a:r>
            <a:r>
              <a:rPr lang="ru-RU" dirty="0"/>
              <a:t> - современный модуль сопоставления "объект — база данных" для .</a:t>
            </a:r>
            <a:r>
              <a:rPr lang="en-US" dirty="0"/>
              <a:t>NET</a:t>
            </a:r>
            <a:r>
              <a:rPr lang="ru-RU" dirty="0" smtClean="0"/>
              <a:t>.</a:t>
            </a:r>
            <a:endParaRPr lang="ru-RU" b="1" dirty="0"/>
          </a:p>
          <a:p>
            <a:pPr lvl="1"/>
            <a:r>
              <a:rPr lang="en-US" dirty="0" err="1" smtClean="0"/>
              <a:t>xUnit</a:t>
            </a:r>
            <a:r>
              <a:rPr lang="ru-RU" dirty="0" smtClean="0"/>
              <a:t> – инструментарий для проведения модульного тестирования </a:t>
            </a:r>
            <a:endParaRPr lang="en-US" dirty="0"/>
          </a:p>
          <a:p>
            <a:pPr lvl="1"/>
            <a:r>
              <a:rPr lang="en-US" dirty="0" err="1" smtClean="0"/>
              <a:t>SignalR</a:t>
            </a:r>
            <a:r>
              <a:rPr lang="en-US" dirty="0" smtClean="0"/>
              <a:t> – </a:t>
            </a:r>
            <a:r>
              <a:rPr lang="ru-RU" dirty="0" smtClean="0"/>
              <a:t>библиотека для обмена сообщений в </a:t>
            </a:r>
            <a:r>
              <a:rPr lang="ru-RU" dirty="0" err="1" smtClean="0"/>
              <a:t>хабе</a:t>
            </a:r>
            <a:r>
              <a:rPr lang="ru-RU" dirty="0" smtClean="0"/>
              <a:t> в реальном времени</a:t>
            </a:r>
            <a:endParaRPr lang="en-US" dirty="0" smtClean="0"/>
          </a:p>
          <a:p>
            <a:pPr lvl="1"/>
            <a:r>
              <a:rPr lang="en-US" dirty="0" err="1" smtClean="0"/>
              <a:t>Swashbuckle.AspNetCore</a:t>
            </a:r>
            <a:r>
              <a:rPr lang="ru-RU" dirty="0" smtClean="0"/>
              <a:t> – инструментарий для визуализации </a:t>
            </a:r>
            <a:r>
              <a:rPr lang="en-US" dirty="0" smtClean="0"/>
              <a:t>Swagger API</a:t>
            </a:r>
            <a:endParaRPr lang="ru-RU" dirty="0"/>
          </a:p>
          <a:p>
            <a:pPr lvl="1"/>
            <a:endParaRPr lang="ru-RU" dirty="0" smtClean="0"/>
          </a:p>
          <a:p>
            <a:pPr marL="457200" lvl="1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76514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74667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Запросы серверного приложения в </a:t>
            </a:r>
            <a:r>
              <a:rPr lang="en-US" sz="2400" dirty="0" smtClean="0"/>
              <a:t>Swagger API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830510" y="1206880"/>
            <a:ext cx="7203027" cy="483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33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6374" y="119406"/>
            <a:ext cx="7912751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Технологии и примеры кода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2881" y="876093"/>
            <a:ext cx="8899929" cy="4538030"/>
          </a:xfrm>
        </p:spPr>
        <p:txBody>
          <a:bodyPr>
            <a:normAutofit/>
          </a:bodyPr>
          <a:lstStyle/>
          <a:p>
            <a:pPr lvl="1"/>
            <a:r>
              <a:rPr lang="ru-RU" sz="2000" dirty="0" smtClean="0"/>
              <a:t>В </a:t>
            </a:r>
            <a:r>
              <a:rPr lang="ru-RU" sz="2000" dirty="0" smtClean="0"/>
              <a:t>веб-приложении была настроена маршрутизация и создана карта сайта</a:t>
            </a:r>
            <a:endParaRPr lang="ru-RU" sz="2000" dirty="0" smtClean="0"/>
          </a:p>
          <a:p>
            <a:pPr lvl="1"/>
            <a:endParaRPr lang="ru-RU" dirty="0"/>
          </a:p>
          <a:p>
            <a:pPr lvl="1"/>
            <a:endParaRPr lang="ru-RU" dirty="0" smtClean="0"/>
          </a:p>
          <a:p>
            <a:pPr marL="457200" lvl="1" indent="0">
              <a:buNone/>
            </a:pPr>
            <a:endParaRPr lang="ru-RU" dirty="0" smtClean="0"/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182881" y="1316900"/>
            <a:ext cx="9335192" cy="2182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ru-RU" dirty="0" smtClean="0"/>
          </a:p>
          <a:p>
            <a:pPr marL="457200" lvl="1" indent="0">
              <a:buFont typeface="Wingdings 3" charset="2"/>
              <a:buNone/>
            </a:pPr>
            <a:endParaRPr lang="ru-RU" dirty="0" smtClean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335560" y="1752969"/>
            <a:ext cx="6609985" cy="2659640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80808" y="1440206"/>
            <a:ext cx="4200525" cy="4820285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4"/>
          <a:stretch>
            <a:fillRect/>
          </a:stretch>
        </p:blipFill>
        <p:spPr>
          <a:xfrm>
            <a:off x="567838" y="4819571"/>
            <a:ext cx="6300470" cy="168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2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6374" y="119406"/>
            <a:ext cx="7912751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Технологии и примеры кода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2881" y="876093"/>
            <a:ext cx="8899929" cy="4538030"/>
          </a:xfrm>
        </p:spPr>
        <p:txBody>
          <a:bodyPr>
            <a:normAutofit/>
          </a:bodyPr>
          <a:lstStyle/>
          <a:p>
            <a:pPr lvl="1"/>
            <a:r>
              <a:rPr lang="ru-RU" sz="2000" dirty="0" smtClean="0"/>
              <a:t>В </a:t>
            </a:r>
            <a:r>
              <a:rPr lang="ru-RU" sz="2000" dirty="0" smtClean="0"/>
              <a:t>веб-приложении </a:t>
            </a:r>
            <a:r>
              <a:rPr lang="ru-RU" sz="2000" dirty="0" smtClean="0"/>
              <a:t>для сохранения данных о текущем пользователе использовалось локальное кэширование:</a:t>
            </a:r>
          </a:p>
          <a:p>
            <a:pPr lvl="1"/>
            <a:endParaRPr lang="ru-RU" dirty="0"/>
          </a:p>
          <a:p>
            <a:pPr lvl="1"/>
            <a:endParaRPr lang="ru-RU" dirty="0" smtClean="0"/>
          </a:p>
          <a:p>
            <a:pPr marL="457200" lvl="1" indent="0">
              <a:buNone/>
            </a:pPr>
            <a:endParaRPr lang="ru-RU" dirty="0" smtClean="0"/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182881" y="1316900"/>
            <a:ext cx="9335192" cy="2182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ru-RU" dirty="0" smtClean="0"/>
          </a:p>
          <a:p>
            <a:pPr marL="457200" lvl="1" indent="0">
              <a:buFont typeface="Wingdings 3" charset="2"/>
              <a:buNone/>
            </a:pPr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989" y="1729731"/>
            <a:ext cx="5612466" cy="49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3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2760" y="42448"/>
            <a:ext cx="7912751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Технологии и примеры кода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584555"/>
            <a:ext cx="9597006" cy="4538030"/>
          </a:xfrm>
        </p:spPr>
        <p:txBody>
          <a:bodyPr>
            <a:normAutofit/>
          </a:bodyPr>
          <a:lstStyle/>
          <a:p>
            <a:pPr lvl="1"/>
            <a:r>
              <a:rPr lang="ru-RU" sz="2000" dirty="0" smtClean="0"/>
              <a:t>Для получения данных с сервера использовался </a:t>
            </a:r>
            <a:r>
              <a:rPr lang="en-US" sz="2000" dirty="0" smtClean="0"/>
              <a:t>HTTP Restful </a:t>
            </a:r>
            <a:r>
              <a:rPr lang="en-US" sz="2000" dirty="0" smtClean="0"/>
              <a:t>API</a:t>
            </a:r>
            <a:r>
              <a:rPr lang="ru-RU" sz="2000" dirty="0" smtClean="0"/>
              <a:t> и  </a:t>
            </a:r>
            <a:r>
              <a:rPr lang="ru-RU" sz="2000" dirty="0" smtClean="0"/>
              <a:t>и </a:t>
            </a:r>
            <a:r>
              <a:rPr lang="en-US" sz="2000" dirty="0" smtClean="0"/>
              <a:t>JSON </a:t>
            </a:r>
            <a:r>
              <a:rPr lang="ru-RU" sz="2000" dirty="0" smtClean="0"/>
              <a:t>– объекты, которые </a:t>
            </a:r>
            <a:r>
              <a:rPr lang="ru-RU" sz="2000" dirty="0" err="1" smtClean="0"/>
              <a:t>десериализовались</a:t>
            </a:r>
            <a:r>
              <a:rPr lang="ru-RU" sz="2000" dirty="0" smtClean="0"/>
              <a:t> и добавлялись на </a:t>
            </a:r>
            <a:r>
              <a:rPr lang="ru-RU" sz="2000" dirty="0" err="1" smtClean="0"/>
              <a:t>виджеты</a:t>
            </a:r>
            <a:endParaRPr lang="en-US" sz="2000" dirty="0" smtClean="0"/>
          </a:p>
          <a:p>
            <a:pPr lvl="1"/>
            <a:r>
              <a:rPr lang="ru-RU" sz="2000" dirty="0" smtClean="0"/>
              <a:t>Для получения данных в реальном времени с сервера использовалась технология </a:t>
            </a:r>
            <a:r>
              <a:rPr lang="en-US" sz="2000" dirty="0" err="1" smtClean="0"/>
              <a:t>signalr</a:t>
            </a:r>
            <a:r>
              <a:rPr lang="en-US" sz="2000" dirty="0" smtClean="0"/>
              <a:t> </a:t>
            </a:r>
            <a:r>
              <a:rPr lang="ru-RU" sz="2000" dirty="0" smtClean="0"/>
              <a:t>и клиент прослушивал соединение с </a:t>
            </a:r>
            <a:r>
              <a:rPr lang="ru-RU" sz="2000" dirty="0" err="1" smtClean="0"/>
              <a:t>хаба</a:t>
            </a:r>
            <a:endParaRPr lang="ru-RU" sz="2000" dirty="0" smtClean="0"/>
          </a:p>
          <a:p>
            <a:pPr lvl="1"/>
            <a:endParaRPr lang="ru-RU" dirty="0"/>
          </a:p>
          <a:p>
            <a:pPr lvl="1"/>
            <a:endParaRPr lang="ru-RU" dirty="0" smtClean="0"/>
          </a:p>
          <a:p>
            <a:pPr marL="457200" lvl="1" indent="0">
              <a:buNone/>
            </a:pPr>
            <a:endParaRPr lang="ru-RU" dirty="0" smtClean="0"/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182881" y="1316900"/>
            <a:ext cx="9335192" cy="2182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ru-RU" dirty="0" smtClean="0"/>
          </a:p>
          <a:p>
            <a:pPr marL="457200" lvl="1" indent="0">
              <a:buFont typeface="Wingdings 3" charset="2"/>
              <a:buNone/>
            </a:pPr>
            <a:endParaRPr lang="ru-RU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80" y="2202939"/>
            <a:ext cx="5351562" cy="442519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568" y="2095593"/>
            <a:ext cx="4947592" cy="463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2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389" y="-39170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Стартовая страница и аутентификация пользователя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2624" y="2137012"/>
            <a:ext cx="8596668" cy="3880773"/>
          </a:xfrm>
        </p:spPr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762624" y="643122"/>
            <a:ext cx="5680121" cy="5264616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7894040" y="2631160"/>
            <a:ext cx="3598403" cy="4159728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8090945" y="166789"/>
            <a:ext cx="3204594" cy="235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4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2120" y="62780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Функционал по </a:t>
            </a:r>
            <a:r>
              <a:rPr lang="ru-RU" sz="2400" dirty="0" smtClean="0"/>
              <a:t>работе с маршрутами</a:t>
            </a:r>
            <a:endParaRPr lang="ru-RU" sz="2400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003" y="935795"/>
            <a:ext cx="6282068" cy="3963375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6769917" y="864065"/>
            <a:ext cx="4773334" cy="598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5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731" y="0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Функционал по </a:t>
            </a:r>
            <a:r>
              <a:rPr lang="ru-RU" sz="2400" dirty="0" smtClean="0"/>
              <a:t>оплате подписки</a:t>
            </a:r>
            <a:endParaRPr lang="ru-RU" sz="2400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363119" y="562570"/>
            <a:ext cx="4359884" cy="2339284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494949" y="2324224"/>
            <a:ext cx="3522285" cy="4410060"/>
          </a:xfrm>
          <a:prstGeom prst="rect">
            <a:avLst/>
          </a:prstGeom>
        </p:spPr>
      </p:pic>
      <p:pic>
        <p:nvPicPr>
          <p:cNvPr id="8" name="Объект 7"/>
          <p:cNvPicPr>
            <a:picLocks noGrp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23296" y="212554"/>
            <a:ext cx="3916041" cy="4049053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5746459" y="4529254"/>
            <a:ext cx="4683470" cy="201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7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46244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Создание </a:t>
            </a:r>
            <a:r>
              <a:rPr lang="en-US" sz="2400" dirty="0" smtClean="0"/>
              <a:t>Docker </a:t>
            </a:r>
            <a:r>
              <a:rPr lang="ru-RU" sz="2400" dirty="0" smtClean="0"/>
              <a:t>образов приложения</a:t>
            </a:r>
            <a:endParaRPr lang="ru-RU" sz="2400" dirty="0"/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276456" y="2497229"/>
            <a:ext cx="5946127" cy="3707097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276456" y="831392"/>
            <a:ext cx="6971030" cy="1828800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9" name="Рисунок 8"/>
          <p:cNvPicPr/>
          <p:nvPr/>
        </p:nvPicPr>
        <p:blipFill>
          <a:blip r:embed="rId4"/>
          <a:stretch>
            <a:fillRect/>
          </a:stretch>
        </p:blipFill>
        <p:spPr>
          <a:xfrm>
            <a:off x="6417310" y="2824745"/>
            <a:ext cx="5774690" cy="199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272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46244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Развертывание веб-</a:t>
            </a:r>
            <a:r>
              <a:rPr lang="ru-RU" sz="2400" dirty="0" smtClean="0"/>
              <a:t>приложения в </a:t>
            </a:r>
            <a:r>
              <a:rPr lang="en-US" sz="2400" dirty="0" smtClean="0"/>
              <a:t>Kubernetes</a:t>
            </a:r>
            <a:endParaRPr lang="ru-RU" sz="240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476133" y="852950"/>
            <a:ext cx="6692900" cy="3248025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7583648" y="914636"/>
            <a:ext cx="4119824" cy="3581864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4"/>
          <a:stretch>
            <a:fillRect/>
          </a:stretch>
        </p:blipFill>
        <p:spPr>
          <a:xfrm>
            <a:off x="476133" y="4234182"/>
            <a:ext cx="6183927" cy="1406495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5"/>
          <a:stretch>
            <a:fillRect/>
          </a:stretch>
        </p:blipFill>
        <p:spPr>
          <a:xfrm>
            <a:off x="476133" y="5841019"/>
            <a:ext cx="6302172" cy="47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653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46244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Ведение репозиториев клиент-серверного </a:t>
            </a:r>
            <a:r>
              <a:rPr lang="ru-RU" sz="2400" dirty="0" err="1" smtClean="0"/>
              <a:t>приложенмя</a:t>
            </a:r>
            <a:endParaRPr lang="ru-RU" sz="240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251670" y="852950"/>
            <a:ext cx="6590630" cy="3484157"/>
          </a:xfrm>
          <a:prstGeom prst="rect">
            <a:avLst/>
          </a:prstGeom>
        </p:spPr>
      </p:pic>
      <p:pic>
        <p:nvPicPr>
          <p:cNvPr id="13" name="Рисунок 12"/>
          <p:cNvPicPr/>
          <p:nvPr/>
        </p:nvPicPr>
        <p:blipFill>
          <a:blip r:embed="rId3"/>
          <a:stretch>
            <a:fillRect/>
          </a:stretch>
        </p:blipFill>
        <p:spPr>
          <a:xfrm>
            <a:off x="5050172" y="3422708"/>
            <a:ext cx="6884245" cy="331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90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162" y="74076"/>
            <a:ext cx="8596668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Список использованных </a:t>
            </a:r>
            <a:r>
              <a:rPr lang="ru-RU" sz="2600" dirty="0" smtClean="0"/>
              <a:t>источников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4284" y="571898"/>
            <a:ext cx="9506174" cy="57282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 </a:t>
            </a:r>
            <a:endParaRPr lang="ru-RU" dirty="0"/>
          </a:p>
          <a:p>
            <a:pPr lvl="0"/>
            <a:r>
              <a:rPr lang="ru-RU" dirty="0" smtClean="0"/>
              <a:t>1. Общие </a:t>
            </a:r>
            <a:r>
              <a:rPr lang="ru-RU" dirty="0"/>
              <a:t>сведения об </a:t>
            </a:r>
            <a:r>
              <a:rPr lang="en-US" dirty="0"/>
              <a:t>ASP</a:t>
            </a:r>
            <a:r>
              <a:rPr lang="ru-RU" dirty="0"/>
              <a:t>.</a:t>
            </a:r>
            <a:r>
              <a:rPr lang="en-US" dirty="0"/>
              <a:t>NET Core</a:t>
            </a:r>
            <a:r>
              <a:rPr lang="ru-RU" dirty="0"/>
              <a:t> [Электронный ресурс]. – 2024. Режим доступа:  </a:t>
            </a:r>
            <a:r>
              <a:rPr lang="en-US" u="sng" dirty="0">
                <a:hlinkClick r:id="rId2"/>
              </a:rPr>
              <a:t>https</a:t>
            </a:r>
            <a:r>
              <a:rPr lang="ru-RU" u="sng" dirty="0">
                <a:hlinkClick r:id="rId2"/>
              </a:rPr>
              <a:t>://</a:t>
            </a:r>
            <a:r>
              <a:rPr lang="en-US" u="sng" dirty="0">
                <a:hlinkClick r:id="rId2"/>
              </a:rPr>
              <a:t>learn</a:t>
            </a:r>
            <a:r>
              <a:rPr lang="ru-RU" u="sng" dirty="0">
                <a:hlinkClick r:id="rId2"/>
              </a:rPr>
              <a:t>.</a:t>
            </a:r>
            <a:r>
              <a:rPr lang="en-US" u="sng" dirty="0" err="1">
                <a:hlinkClick r:id="rId2"/>
              </a:rPr>
              <a:t>microsoft</a:t>
            </a:r>
            <a:r>
              <a:rPr lang="ru-RU" u="sng" dirty="0">
                <a:hlinkClick r:id="rId2"/>
              </a:rPr>
              <a:t>.</a:t>
            </a:r>
            <a:r>
              <a:rPr lang="en-US" u="sng" dirty="0">
                <a:hlinkClick r:id="rId2"/>
              </a:rPr>
              <a:t>com</a:t>
            </a:r>
            <a:r>
              <a:rPr lang="ru-RU" u="sng" dirty="0">
                <a:hlinkClick r:id="rId2"/>
              </a:rPr>
              <a:t>/</a:t>
            </a:r>
            <a:r>
              <a:rPr lang="en-US" u="sng" dirty="0" err="1">
                <a:hlinkClick r:id="rId2"/>
              </a:rPr>
              <a:t>ru</a:t>
            </a:r>
            <a:r>
              <a:rPr lang="ru-RU" u="sng" dirty="0">
                <a:hlinkClick r:id="rId2"/>
              </a:rPr>
              <a:t>-</a:t>
            </a:r>
            <a:r>
              <a:rPr lang="en-US" u="sng" dirty="0" err="1">
                <a:hlinkClick r:id="rId2"/>
              </a:rPr>
              <a:t>ru</a:t>
            </a:r>
            <a:r>
              <a:rPr lang="ru-RU" u="sng" dirty="0">
                <a:hlinkClick r:id="rId2"/>
              </a:rPr>
              <a:t>/</a:t>
            </a:r>
            <a:r>
              <a:rPr lang="en-US" u="sng" dirty="0" err="1">
                <a:hlinkClick r:id="rId2"/>
              </a:rPr>
              <a:t>aspnet</a:t>
            </a:r>
            <a:r>
              <a:rPr lang="ru-RU" u="sng" dirty="0">
                <a:hlinkClick r:id="rId2"/>
              </a:rPr>
              <a:t>/</a:t>
            </a:r>
            <a:r>
              <a:rPr lang="en-US" u="sng" dirty="0">
                <a:hlinkClick r:id="rId2"/>
              </a:rPr>
              <a:t>core</a:t>
            </a:r>
            <a:r>
              <a:rPr lang="ru-RU" u="sng" dirty="0">
                <a:hlinkClick r:id="rId2"/>
              </a:rPr>
              <a:t>/</a:t>
            </a:r>
            <a:r>
              <a:rPr lang="en-US" u="sng" dirty="0">
                <a:hlinkClick r:id="rId2"/>
              </a:rPr>
              <a:t>introduction</a:t>
            </a:r>
            <a:r>
              <a:rPr lang="ru-RU" u="sng" dirty="0">
                <a:hlinkClick r:id="rId2"/>
              </a:rPr>
              <a:t>-</a:t>
            </a:r>
            <a:r>
              <a:rPr lang="en-US" u="sng" dirty="0">
                <a:hlinkClick r:id="rId2"/>
              </a:rPr>
              <a:t>to</a:t>
            </a:r>
            <a:r>
              <a:rPr lang="ru-RU" u="sng" dirty="0">
                <a:hlinkClick r:id="rId2"/>
              </a:rPr>
              <a:t>-</a:t>
            </a:r>
            <a:r>
              <a:rPr lang="en-US" u="sng" dirty="0" err="1">
                <a:hlinkClick r:id="rId2"/>
              </a:rPr>
              <a:t>aspnet</a:t>
            </a:r>
            <a:r>
              <a:rPr lang="ru-RU" u="sng" dirty="0">
                <a:hlinkClick r:id="rId2"/>
              </a:rPr>
              <a:t>-</a:t>
            </a:r>
            <a:r>
              <a:rPr lang="en-US" u="sng" dirty="0">
                <a:hlinkClick r:id="rId2"/>
              </a:rPr>
              <a:t>core</a:t>
            </a:r>
            <a:r>
              <a:rPr lang="ru-RU" u="sng" dirty="0">
                <a:hlinkClick r:id="rId2"/>
              </a:rPr>
              <a:t>?</a:t>
            </a:r>
            <a:r>
              <a:rPr lang="en-US" u="sng" dirty="0">
                <a:hlinkClick r:id="rId2"/>
              </a:rPr>
              <a:t>view</a:t>
            </a:r>
            <a:r>
              <a:rPr lang="ru-RU" u="sng" dirty="0">
                <a:hlinkClick r:id="rId2"/>
              </a:rPr>
              <a:t>=</a:t>
            </a:r>
            <a:r>
              <a:rPr lang="en-US" u="sng" dirty="0" err="1">
                <a:hlinkClick r:id="rId2"/>
              </a:rPr>
              <a:t>aspnetcore</a:t>
            </a:r>
            <a:r>
              <a:rPr lang="ru-RU" u="sng" dirty="0">
                <a:hlinkClick r:id="rId2"/>
              </a:rPr>
              <a:t>-8.0</a:t>
            </a:r>
            <a:r>
              <a:rPr lang="ru-RU" dirty="0"/>
              <a:t> (дата обращения: 12.01.2024 г.).</a:t>
            </a:r>
          </a:p>
          <a:p>
            <a:pPr lvl="0"/>
            <a:r>
              <a:rPr lang="ru-RU" dirty="0" smtClean="0"/>
              <a:t>2. Авторизация </a:t>
            </a:r>
            <a:r>
              <a:rPr lang="ru-RU" dirty="0"/>
              <a:t>с помощью определенной схемы в ASP.NET </a:t>
            </a:r>
            <a:r>
              <a:rPr lang="ru-RU" dirty="0" err="1"/>
              <a:t>Core</a:t>
            </a:r>
            <a:r>
              <a:rPr lang="ru-RU" dirty="0"/>
              <a:t> [Электронный ресурс]. – 2024. Режим доступа</a:t>
            </a:r>
            <a:r>
              <a:rPr lang="en-US" dirty="0"/>
              <a:t>:   </a:t>
            </a:r>
            <a:r>
              <a:rPr lang="en-US" u="sng" dirty="0">
                <a:hlinkClick r:id="rId3"/>
              </a:rPr>
              <a:t>https://learn.microsoft.com/ru </a:t>
            </a:r>
            <a:r>
              <a:rPr lang="en-US" u="sng" dirty="0" err="1">
                <a:hlinkClick r:id="rId3"/>
              </a:rPr>
              <a:t>ru</a:t>
            </a:r>
            <a:r>
              <a:rPr lang="en-US" u="sng" dirty="0">
                <a:hlinkClick r:id="rId3"/>
              </a:rPr>
              <a:t>/</a:t>
            </a:r>
            <a:r>
              <a:rPr lang="en-US" u="sng" dirty="0" err="1">
                <a:hlinkClick r:id="rId3"/>
              </a:rPr>
              <a:t>aspnet</a:t>
            </a:r>
            <a:r>
              <a:rPr lang="en-US" u="sng" dirty="0">
                <a:hlinkClick r:id="rId3"/>
              </a:rPr>
              <a:t>/core/security/authorization/</a:t>
            </a:r>
            <a:r>
              <a:rPr lang="en-US" u="sng" dirty="0" err="1">
                <a:hlinkClick r:id="rId3"/>
              </a:rPr>
              <a:t>limitingidentitybyscheme?view</a:t>
            </a:r>
            <a:r>
              <a:rPr lang="en-US" u="sng" dirty="0">
                <a:hlinkClick r:id="rId3"/>
              </a:rPr>
              <a:t>=aspnetcore-8.0</a:t>
            </a:r>
            <a:r>
              <a:rPr lang="en-US" dirty="0"/>
              <a:t> (</a:t>
            </a:r>
            <a:r>
              <a:rPr lang="ru-RU" dirty="0"/>
              <a:t>дата обращения</a:t>
            </a:r>
            <a:r>
              <a:rPr lang="en-US" dirty="0"/>
              <a:t>: 20.02.2024 </a:t>
            </a:r>
            <a:r>
              <a:rPr lang="ru-RU" dirty="0"/>
              <a:t>г</a:t>
            </a:r>
            <a:r>
              <a:rPr lang="en-US" dirty="0" smtClean="0"/>
              <a:t>.).</a:t>
            </a:r>
            <a:endParaRPr lang="ru-RU" dirty="0"/>
          </a:p>
          <a:p>
            <a:pPr lvl="0"/>
            <a:r>
              <a:rPr lang="ru-RU" dirty="0" smtClean="0"/>
              <a:t>3. Создание </a:t>
            </a:r>
            <a:r>
              <a:rPr lang="en-US" dirty="0"/>
              <a:t>Flutter Rest API</a:t>
            </a:r>
            <a:r>
              <a:rPr lang="ru-RU" dirty="0"/>
              <a:t> [Электронный ресурс]. – </a:t>
            </a:r>
            <a:r>
              <a:rPr lang="ru-RU" dirty="0" smtClean="0"/>
              <a:t>2023. Режим </a:t>
            </a:r>
            <a:r>
              <a:rPr lang="ru-RU" dirty="0"/>
              <a:t>доступа: </a:t>
            </a:r>
            <a:r>
              <a:rPr lang="en-US" u="sng" dirty="0">
                <a:hlinkClick r:id="rId4"/>
              </a:rPr>
              <a:t>https</a:t>
            </a:r>
            <a:r>
              <a:rPr lang="ru-RU" u="sng" dirty="0">
                <a:hlinkClick r:id="rId4"/>
              </a:rPr>
              <a:t>://</a:t>
            </a:r>
            <a:r>
              <a:rPr lang="en-US" u="sng" dirty="0">
                <a:hlinkClick r:id="rId4"/>
              </a:rPr>
              <a:t>www</a:t>
            </a:r>
            <a:r>
              <a:rPr lang="ru-RU" u="sng" dirty="0">
                <a:hlinkClick r:id="rId4"/>
              </a:rPr>
              <a:t>.</a:t>
            </a:r>
            <a:r>
              <a:rPr lang="en-US" u="sng" dirty="0">
                <a:hlinkClick r:id="rId4"/>
              </a:rPr>
              <a:t>c</a:t>
            </a:r>
            <a:r>
              <a:rPr lang="ru-RU" u="sng" dirty="0">
                <a:hlinkClick r:id="rId4"/>
              </a:rPr>
              <a:t>-</a:t>
            </a:r>
            <a:r>
              <a:rPr lang="en-US" u="sng" dirty="0" err="1">
                <a:hlinkClick r:id="rId4"/>
              </a:rPr>
              <a:t>sharpcorner</a:t>
            </a:r>
            <a:r>
              <a:rPr lang="ru-RU" u="sng" dirty="0">
                <a:hlinkClick r:id="rId4"/>
              </a:rPr>
              <a:t>.</a:t>
            </a:r>
            <a:r>
              <a:rPr lang="en-US" u="sng" dirty="0">
                <a:hlinkClick r:id="rId4"/>
              </a:rPr>
              <a:t>com</a:t>
            </a:r>
            <a:r>
              <a:rPr lang="ru-RU" u="sng" dirty="0">
                <a:hlinkClick r:id="rId4"/>
              </a:rPr>
              <a:t>/</a:t>
            </a:r>
            <a:r>
              <a:rPr lang="en-US" u="sng" dirty="0">
                <a:hlinkClick r:id="rId4"/>
              </a:rPr>
              <a:t>learn</a:t>
            </a:r>
            <a:r>
              <a:rPr lang="ru-RU" u="sng" dirty="0">
                <a:hlinkClick r:id="rId4"/>
              </a:rPr>
              <a:t>/</a:t>
            </a:r>
            <a:r>
              <a:rPr lang="en-US" u="sng" dirty="0">
                <a:hlinkClick r:id="rId4"/>
              </a:rPr>
              <a:t>learn</a:t>
            </a:r>
            <a:r>
              <a:rPr lang="ru-RU" u="sng" dirty="0">
                <a:hlinkClick r:id="rId4"/>
              </a:rPr>
              <a:t>-</a:t>
            </a:r>
            <a:r>
              <a:rPr lang="en-US" u="sng" dirty="0">
                <a:hlinkClick r:id="rId4"/>
              </a:rPr>
              <a:t>flutter</a:t>
            </a:r>
            <a:r>
              <a:rPr lang="ru-RU" u="sng" dirty="0">
                <a:hlinkClick r:id="rId4"/>
              </a:rPr>
              <a:t>/</a:t>
            </a:r>
            <a:r>
              <a:rPr lang="en-US" u="sng" dirty="0">
                <a:hlinkClick r:id="rId4"/>
              </a:rPr>
              <a:t>flutter</a:t>
            </a:r>
            <a:r>
              <a:rPr lang="ru-RU" u="sng" dirty="0">
                <a:hlinkClick r:id="rId4"/>
              </a:rPr>
              <a:t>-</a:t>
            </a:r>
            <a:r>
              <a:rPr lang="en-US" u="sng" dirty="0">
                <a:hlinkClick r:id="rId4"/>
              </a:rPr>
              <a:t>rest</a:t>
            </a:r>
            <a:r>
              <a:rPr lang="ru-RU" u="sng" dirty="0">
                <a:hlinkClick r:id="rId4"/>
              </a:rPr>
              <a:t>-</a:t>
            </a:r>
            <a:r>
              <a:rPr lang="en-US" u="sng" dirty="0" err="1">
                <a:hlinkClick r:id="rId4"/>
              </a:rPr>
              <a:t>api</a:t>
            </a:r>
            <a:r>
              <a:rPr lang="ru-RU" dirty="0"/>
              <a:t> (дата обращения: 17.03.2024 г.).</a:t>
            </a:r>
          </a:p>
          <a:p>
            <a:pPr lvl="0"/>
            <a:r>
              <a:rPr lang="ru-RU" dirty="0" smtClean="0"/>
              <a:t>4. Руководство </a:t>
            </a:r>
            <a:r>
              <a:rPr lang="ru-RU" dirty="0"/>
              <a:t>по </a:t>
            </a:r>
            <a:r>
              <a:rPr lang="en-US" dirty="0"/>
              <a:t>Docker Compose</a:t>
            </a:r>
            <a:r>
              <a:rPr lang="ru-RU" dirty="0"/>
              <a:t> для начинающих [Электронный ресурс]. – 2022. Режим доступа: </a:t>
            </a:r>
            <a:r>
              <a:rPr lang="ru-RU" u="sng" dirty="0">
                <a:hlinkClick r:id="rId5"/>
              </a:rPr>
              <a:t>https://habr.com/ru/companies/ruvds/articles/450312/</a:t>
            </a:r>
            <a:r>
              <a:rPr lang="ru-RU" dirty="0"/>
              <a:t> (дата обращения: 14.04.2024 г.).</a:t>
            </a:r>
          </a:p>
          <a:p>
            <a:pPr lvl="0"/>
            <a:r>
              <a:rPr lang="ru-RU" dirty="0" smtClean="0"/>
              <a:t>5. Бёрнс </a:t>
            </a:r>
            <a:r>
              <a:rPr lang="ru-RU" dirty="0"/>
              <a:t>Б. Распределенные системы. Паттерны проектирования. — СПб.: Питер, 2019 — 224 с.: ил. — (Серия «Бестселлеры </a:t>
            </a:r>
            <a:r>
              <a:rPr lang="ru-RU" dirty="0" err="1"/>
              <a:t>O’Reilly</a:t>
            </a:r>
            <a:r>
              <a:rPr lang="ru-RU" dirty="0"/>
              <a:t>»). ISBN 978-5-4461-0950-0.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635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46244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Демонстрация работы </a:t>
            </a:r>
            <a:r>
              <a:rPr lang="ru-RU" sz="2400" dirty="0" smtClean="0"/>
              <a:t>веб-приложения</a:t>
            </a:r>
            <a:endParaRPr lang="ru-RU" sz="2400" dirty="0"/>
          </a:p>
        </p:txBody>
      </p:sp>
      <p:pic>
        <p:nvPicPr>
          <p:cNvPr id="5" name="демонстрация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32804" y="1215375"/>
            <a:ext cx="7638263" cy="4296193"/>
          </a:xfrm>
        </p:spPr>
      </p:pic>
    </p:spTree>
    <p:extLst>
      <p:ext uri="{BB962C8B-B14F-4D97-AF65-F5344CB8AC3E}">
        <p14:creationId xmlns:p14="http://schemas.microsoft.com/office/powerpoint/2010/main" val="395252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329" y="446089"/>
            <a:ext cx="8596668" cy="1320800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внимание!</a:t>
            </a:r>
            <a:endParaRPr lang="ru-RU" dirty="0"/>
          </a:p>
        </p:txBody>
      </p:sp>
      <p:pic>
        <p:nvPicPr>
          <p:cNvPr id="4" name="Picture 4" descr="Check Mark Symbol PNG Transparent Images Free Download | Vector Files |  Pngtr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256" y="1951427"/>
            <a:ext cx="2575249" cy="257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59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373</TotalTime>
  <Words>426</Words>
  <Application>Microsoft Office PowerPoint</Application>
  <PresentationFormat>Широкоэкранный</PresentationFormat>
  <Paragraphs>70</Paragraphs>
  <Slides>21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Times New Roman</vt:lpstr>
      <vt:lpstr>Trebuchet MS</vt:lpstr>
      <vt:lpstr>Wingdings 3</vt:lpstr>
      <vt:lpstr>Аспект</vt:lpstr>
      <vt:lpstr>Курсовой проект  по дисциплине «Технологии разработки веб-приложений» по теме:  Разработка веб-приложения для построения кратчайших маршрутов по городу </vt:lpstr>
      <vt:lpstr>Проблематика задачи</vt:lpstr>
      <vt:lpstr>Сравнительной обзор аналогов</vt:lpstr>
      <vt:lpstr>Диаграмма прецедентов</vt:lpstr>
      <vt:lpstr>Физическая схема БД</vt:lpstr>
      <vt:lpstr>Схема последовательности платежа в YooMoney</vt:lpstr>
      <vt:lpstr>Диаграмма развертывания</vt:lpstr>
      <vt:lpstr>Описание инструментов разработки</vt:lpstr>
      <vt:lpstr>Запросы серверного приложения в Swagger API</vt:lpstr>
      <vt:lpstr>Технологии и примеры кода</vt:lpstr>
      <vt:lpstr>Технологии и примеры кода</vt:lpstr>
      <vt:lpstr>Технологии и примеры кода</vt:lpstr>
      <vt:lpstr>Стартовая страница и аутентификация пользователя</vt:lpstr>
      <vt:lpstr>Функционал по работе с маршрутами</vt:lpstr>
      <vt:lpstr>Функционал по оплате подписки</vt:lpstr>
      <vt:lpstr>Создание Docker образов приложения</vt:lpstr>
      <vt:lpstr>Развертывание веб-приложения в Kubernetes</vt:lpstr>
      <vt:lpstr>Ведение репозиториев клиент-серверного приложенмя</vt:lpstr>
      <vt:lpstr>Список использованных источников</vt:lpstr>
      <vt:lpstr>Демонстрация работы веб-приложения</vt:lpstr>
      <vt:lpstr>Спасибо за внимание!</vt:lpstr>
    </vt:vector>
  </TitlesOfParts>
  <Company>ВлГУ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по теме: «Информационная система по организации предоставления и выполнения бытовых услуг»</dc:title>
  <dc:creator>stu-pri120</dc:creator>
  <cp:lastModifiedBy>Кирилл Парахин</cp:lastModifiedBy>
  <cp:revision>47</cp:revision>
  <dcterms:created xsi:type="dcterms:W3CDTF">2023-05-03T07:43:15Z</dcterms:created>
  <dcterms:modified xsi:type="dcterms:W3CDTF">2025-06-01T11:47:00Z</dcterms:modified>
</cp:coreProperties>
</file>